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1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01</a:t>
            </a:r>
          </a:p>
        </p:txBody>
      </p:sp>
      <p:sp>
        <p:nvSpPr>
          <p:cNvPr id="3" name="s1_img_slot"/>
          <p:cNvSpPr/>
          <p:nvPr/>
        </p:nvSpPr>
        <p:spPr>
          <a:xfrm>
            <a:off x="731520" y="1463040"/>
            <a:ext cx="1463040" cy="146304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logo ]</a:t>
            </a:r>
          </a:p>
        </p:txBody>
      </p:sp>
      <p:sp>
        <p:nvSpPr>
          <p:cNvPr id="4" name="s1_title"/>
          <p:cNvSpPr txBox="1"/>
          <p:nvPr/>
        </p:nvSpPr>
        <p:spPr>
          <a:xfrm>
            <a:off x="731520" y="31089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200"/>
              </a:spcAft>
            </a:pPr>
            <a:r>
              <a:rPr sz="8000" b="1">
                <a:solidFill>
                  <a:srgbClr val="F6F1E7"/>
                </a:solidFill>
                <a:latin typeface="Inter"/>
              </a:rPr>
              <a:t>Whisk</a:t>
            </a:r>
          </a:p>
        </p:txBody>
      </p:sp>
      <p:sp>
        <p:nvSpPr>
          <p:cNvPr id="5" name="s1_body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20"/>
              </a:spcAft>
            </a:pPr>
            <a:r>
              <a:rPr sz="2800" b="0">
                <a:solidFill>
                  <a:srgbClr val="8DBF5A"/>
                </a:solidFill>
                <a:latin typeface="Inter"/>
              </a:rPr>
              <a:t>Matcha, delivered to your dorm.</a:t>
            </a:r>
          </a:p>
        </p:txBody>
      </p:sp>
      <p:sp>
        <p:nvSpPr>
          <p:cNvPr id="6" name="s1_footer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0">
                <a:solidFill>
                  <a:srgbClr val="A9B5AB"/>
                </a:solidFill>
                <a:latin typeface="Inter"/>
              </a:rPr>
              <a:t>LA Hacks 2026 · Seed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2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THE PROBLEM</a:t>
            </a:r>
          </a:p>
        </p:txBody>
      </p:sp>
      <p:sp>
        <p:nvSpPr>
          <p:cNvPr id="3" name="s2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02</a:t>
            </a:r>
          </a:p>
        </p:txBody>
      </p:sp>
      <p:sp>
        <p:nvSpPr>
          <p:cNvPr id="4" name="s2_title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F6F1E7"/>
                </a:solidFill>
                <a:latin typeface="Inter"/>
              </a:rPr>
              <a:t>Students spend $7 a day on matcha lattes.</a:t>
            </a:r>
          </a:p>
        </p:txBody>
      </p:sp>
      <p:sp>
        <p:nvSpPr>
          <p:cNvPr id="5" name="s2_card1"/>
          <p:cNvSpPr/>
          <p:nvPr/>
        </p:nvSpPr>
        <p:spPr>
          <a:xfrm>
            <a:off x="731520" y="2926080"/>
            <a:ext cx="3383280" cy="256032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2_card1_title"/>
          <p:cNvSpPr txBox="1"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Expensive</a:t>
            </a:r>
          </a:p>
        </p:txBody>
      </p:sp>
      <p:sp>
        <p:nvSpPr>
          <p:cNvPr id="7" name="s2_card1_body"/>
          <p:cNvSpPr txBox="1"/>
          <p:nvPr/>
        </p:nvSpPr>
        <p:spPr>
          <a:xfrm>
            <a:off x="1005840" y="374904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$150+/month at campus cafés for one drink a day.</a:t>
            </a:r>
          </a:p>
        </p:txBody>
      </p:sp>
      <p:sp>
        <p:nvSpPr>
          <p:cNvPr id="8" name="s2_card2"/>
          <p:cNvSpPr/>
          <p:nvPr/>
        </p:nvSpPr>
        <p:spPr>
          <a:xfrm>
            <a:off x="4389120" y="2926080"/>
            <a:ext cx="3383280" cy="256032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2_card2_title"/>
          <p:cNvSpPr txBox="1"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Inconsistent</a:t>
            </a:r>
          </a:p>
        </p:txBody>
      </p:sp>
      <p:sp>
        <p:nvSpPr>
          <p:cNvPr id="10" name="s2_card2_body"/>
          <p:cNvSpPr txBox="1"/>
          <p:nvPr/>
        </p:nvSpPr>
        <p:spPr>
          <a:xfrm>
            <a:off x="4663440" y="374904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Half the lattes are 80% syrup. Quality is a coin flip.</a:t>
            </a:r>
          </a:p>
        </p:txBody>
      </p:sp>
      <p:sp>
        <p:nvSpPr>
          <p:cNvPr id="11" name="s2_card3"/>
          <p:cNvSpPr/>
          <p:nvPr/>
        </p:nvSpPr>
        <p:spPr>
          <a:xfrm>
            <a:off x="8046720" y="2926080"/>
            <a:ext cx="3383280" cy="256032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2_card3_title"/>
          <p:cNvSpPr txBox="1"/>
          <p:nvPr/>
        </p:nvSpPr>
        <p:spPr>
          <a:xfrm>
            <a:off x="8321040" y="3200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Inconvenient</a:t>
            </a:r>
          </a:p>
        </p:txBody>
      </p:sp>
      <p:sp>
        <p:nvSpPr>
          <p:cNvPr id="13" name="s2_card3_body"/>
          <p:cNvSpPr txBox="1"/>
          <p:nvPr/>
        </p:nvSpPr>
        <p:spPr>
          <a:xfrm>
            <a:off x="8321040" y="374904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Lines between classes. No time during finals.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3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OUR SOLUTION</a:t>
            </a:r>
          </a:p>
        </p:txBody>
      </p:sp>
      <p:sp>
        <p:nvSpPr>
          <p:cNvPr id="3" name="s3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03</a:t>
            </a:r>
          </a:p>
        </p:txBody>
      </p:sp>
      <p:sp>
        <p:nvSpPr>
          <p:cNvPr id="4" name="s3_title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FF6B6B"/>
                </a:solidFill>
                <a:latin typeface="Inter"/>
              </a:rPr>
              <a:t>TODO: solution headline</a:t>
            </a:r>
          </a:p>
        </p:txBody>
      </p:sp>
      <p:sp>
        <p:nvSpPr>
          <p:cNvPr id="5" name="s3_body"/>
          <p:cNvSpPr txBox="1"/>
          <p:nvPr/>
        </p:nvSpPr>
        <p:spPr>
          <a:xfrm>
            <a:off x="731520" y="2377440"/>
            <a:ext cx="56692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6B6B"/>
                </a:solidFill>
                <a:latin typeface="Inter"/>
              </a:rPr>
              <a:t>TODO: 3 bullets on what Whisk does</a:t>
            </a:r>
          </a:p>
        </p:txBody>
      </p:sp>
      <p:sp>
        <p:nvSpPr>
          <p:cNvPr id="6" name="s3_img_slot"/>
          <p:cNvSpPr/>
          <p:nvPr/>
        </p:nvSpPr>
        <p:spPr>
          <a:xfrm>
            <a:off x="6766560" y="2194560"/>
            <a:ext cx="4663440" cy="365760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product photo / logo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4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HOW IT WORKS</a:t>
            </a:r>
          </a:p>
        </p:txBody>
      </p:sp>
      <p:sp>
        <p:nvSpPr>
          <p:cNvPr id="3" name="s4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04</a:t>
            </a:r>
          </a:p>
        </p:txBody>
      </p:sp>
      <p:sp>
        <p:nvSpPr>
          <p:cNvPr id="4" name="s4_title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F6F1E7"/>
                </a:solidFill>
                <a:latin typeface="Inter"/>
              </a:rPr>
              <a:t>Three taps. Fresh tins every week.</a:t>
            </a:r>
          </a:p>
        </p:txBody>
      </p:sp>
      <p:sp>
        <p:nvSpPr>
          <p:cNvPr id="5" name="s4_card1"/>
          <p:cNvSpPr/>
          <p:nvPr/>
        </p:nvSpPr>
        <p:spPr>
          <a:xfrm>
            <a:off x="731520" y="27432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4_card1_title"/>
          <p:cNvSpPr txBox="1"/>
          <p:nvPr/>
        </p:nvSpPr>
        <p:spPr>
          <a:xfrm>
            <a:off x="1005840" y="3017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1 · Pick your vibe</a:t>
            </a:r>
          </a:p>
        </p:txBody>
      </p:sp>
      <p:sp>
        <p:nvSpPr>
          <p:cNvPr id="7" name="s4_card1_body"/>
          <p:cNvSpPr txBox="1"/>
          <p:nvPr/>
        </p:nvSpPr>
        <p:spPr>
          <a:xfrm>
            <a:off x="1005840" y="356616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Ceremonial, latte-grade or flavored. Change anytime.</a:t>
            </a:r>
          </a:p>
        </p:txBody>
      </p:sp>
      <p:sp>
        <p:nvSpPr>
          <p:cNvPr id="8" name="s4_card2"/>
          <p:cNvSpPr/>
          <p:nvPr/>
        </p:nvSpPr>
        <p:spPr>
          <a:xfrm>
            <a:off x="4389120" y="27432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4_card2_title"/>
          <p:cNvSpPr txBox="1"/>
          <p:nvPr/>
        </p:nvSpPr>
        <p:spPr>
          <a:xfrm>
            <a:off x="4663440" y="3017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2 · We ship weekly</a:t>
            </a:r>
          </a:p>
        </p:txBody>
      </p:sp>
      <p:sp>
        <p:nvSpPr>
          <p:cNvPr id="10" name="s4_card2_body"/>
          <p:cNvSpPr txBox="1"/>
          <p:nvPr/>
        </p:nvSpPr>
        <p:spPr>
          <a:xfrm>
            <a:off x="4663440" y="356616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Timed to your class schedule. Free shipping.</a:t>
            </a:r>
          </a:p>
        </p:txBody>
      </p:sp>
      <p:sp>
        <p:nvSpPr>
          <p:cNvPr id="11" name="s4_card3"/>
          <p:cNvSpPr/>
          <p:nvPr/>
        </p:nvSpPr>
        <p:spPr>
          <a:xfrm>
            <a:off x="8046720" y="27432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4_card3_title"/>
          <p:cNvSpPr txBox="1"/>
          <p:nvPr/>
        </p:nvSpPr>
        <p:spPr>
          <a:xfrm>
            <a:off x="8321040" y="3017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3 · Share &amp; sip free</a:t>
            </a:r>
          </a:p>
        </p:txBody>
      </p:sp>
      <p:sp>
        <p:nvSpPr>
          <p:cNvPr id="13" name="s4_card3_body"/>
          <p:cNvSpPr txBox="1"/>
          <p:nvPr/>
        </p:nvSpPr>
        <p:spPr>
          <a:xfrm>
            <a:off x="8321040" y="356616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Every referral earns 5 free credits.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5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THE PRODUCT</a:t>
            </a:r>
          </a:p>
        </p:txBody>
      </p:sp>
      <p:sp>
        <p:nvSpPr>
          <p:cNvPr id="3" name="s5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05</a:t>
            </a:r>
          </a:p>
        </p:txBody>
      </p:sp>
      <p:sp>
        <p:nvSpPr>
          <p:cNvPr id="4" name="s5_title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6B6B"/>
                </a:solidFill>
                <a:latin typeface="Inter"/>
              </a:rPr>
              <a:t>TODO: product screenshots</a:t>
            </a:r>
          </a:p>
        </p:txBody>
      </p:sp>
      <p:sp>
        <p:nvSpPr>
          <p:cNvPr id="5" name="s5_img_slot"/>
          <p:cNvSpPr/>
          <p:nvPr/>
        </p:nvSpPr>
        <p:spPr>
          <a:xfrm>
            <a:off x="731520" y="2194560"/>
            <a:ext cx="5212080" cy="384048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screenshot: signup ]</a:t>
            </a:r>
          </a:p>
        </p:txBody>
      </p:sp>
      <p:sp>
        <p:nvSpPr>
          <p:cNvPr id="6" name="s5_img_slot_2"/>
          <p:cNvSpPr/>
          <p:nvPr/>
        </p:nvSpPr>
        <p:spPr>
          <a:xfrm>
            <a:off x="6309360" y="2194560"/>
            <a:ext cx="5120640" cy="384048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screenshot: landing page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6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MARKET</a:t>
            </a:r>
          </a:p>
        </p:txBody>
      </p:sp>
      <p:sp>
        <p:nvSpPr>
          <p:cNvPr id="3" name="s6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06</a:t>
            </a:r>
          </a:p>
        </p:txBody>
      </p:sp>
      <p:sp>
        <p:nvSpPr>
          <p:cNvPr id="4" name="s6_title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6B6B"/>
                </a:solidFill>
                <a:latin typeface="Inter"/>
              </a:rPr>
              <a:t>TODO: market size</a:t>
            </a:r>
          </a:p>
        </p:txBody>
      </p:sp>
      <p:sp>
        <p:nvSpPr>
          <p:cNvPr id="5" name="s6_stat"/>
          <p:cNvSpPr txBox="1"/>
          <p:nvPr/>
        </p:nvSpPr>
        <p:spPr>
          <a:xfrm>
            <a:off x="731520" y="22860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0"/>
              </a:spcAft>
            </a:pPr>
            <a:r>
              <a:rPr sz="12000" b="1">
                <a:solidFill>
                  <a:srgbClr val="FF6B6B"/>
                </a:solidFill>
                <a:latin typeface="Inter"/>
              </a:rPr>
              <a:t>$?B</a:t>
            </a:r>
          </a:p>
        </p:txBody>
      </p:sp>
      <p:sp>
        <p:nvSpPr>
          <p:cNvPr id="6" name="s6_body"/>
          <p:cNvSpPr txBox="1"/>
          <p:nvPr/>
        </p:nvSpPr>
        <p:spPr>
          <a:xfrm>
            <a:off x="731520" y="4389120"/>
            <a:ext cx="5669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0">
                <a:solidFill>
                  <a:srgbClr val="FF6B6B"/>
                </a:solidFill>
                <a:latin typeface="Inter"/>
              </a:rPr>
              <a:t>TODO: source + one-line explanation</a:t>
            </a:r>
          </a:p>
        </p:txBody>
      </p:sp>
      <p:sp>
        <p:nvSpPr>
          <p:cNvPr id="7" name="s6_img_slot"/>
          <p:cNvSpPr/>
          <p:nvPr/>
        </p:nvSpPr>
        <p:spPr>
          <a:xfrm>
            <a:off x="6766560" y="2194560"/>
            <a:ext cx="4663440" cy="365760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chart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7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BUSINESS MODEL</a:t>
            </a:r>
          </a:p>
        </p:txBody>
      </p:sp>
      <p:sp>
        <p:nvSpPr>
          <p:cNvPr id="3" name="s7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07</a:t>
            </a:r>
          </a:p>
        </p:txBody>
      </p:sp>
      <p:sp>
        <p:nvSpPr>
          <p:cNvPr id="4" name="s7_title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6B6B"/>
                </a:solidFill>
                <a:latin typeface="Inter"/>
              </a:rPr>
              <a:t>TODO: pricing</a:t>
            </a:r>
          </a:p>
        </p:txBody>
      </p:sp>
      <p:sp>
        <p:nvSpPr>
          <p:cNvPr id="5" name="s7_stat"/>
          <p:cNvSpPr txBox="1"/>
          <p:nvPr/>
        </p:nvSpPr>
        <p:spPr>
          <a:xfrm>
            <a:off x="731520" y="2286000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0"/>
              </a:spcAft>
            </a:pPr>
            <a:r>
              <a:rPr sz="9600" b="1">
                <a:solidFill>
                  <a:srgbClr val="FF6B6B"/>
                </a:solidFill>
                <a:latin typeface="Inter"/>
              </a:rPr>
              <a:t>$??/mo</a:t>
            </a:r>
          </a:p>
        </p:txBody>
      </p:sp>
      <p:sp>
        <p:nvSpPr>
          <p:cNvPr id="6" name="s7_body"/>
          <p:cNvSpPr txBox="1"/>
          <p:nvPr/>
        </p:nvSpPr>
        <p:spPr>
          <a:xfrm>
            <a:off x="731520" y="411480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0">
                <a:solidFill>
                  <a:srgbClr val="FF6B6B"/>
                </a:solidFill>
                <a:latin typeface="Inter"/>
              </a:rPr>
              <a:t>TODO: plans (standard vs student)</a:t>
            </a:r>
          </a:p>
        </p:txBody>
      </p:sp>
      <p:sp>
        <p:nvSpPr>
          <p:cNvPr id="7" name="s7_img_slot"/>
          <p:cNvSpPr/>
          <p:nvPr/>
        </p:nvSpPr>
        <p:spPr>
          <a:xfrm>
            <a:off x="6400800" y="2194560"/>
            <a:ext cx="5029200" cy="365760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pricing table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8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TRACTION &amp; ROADMAP</a:t>
            </a:r>
          </a:p>
        </p:txBody>
      </p:sp>
      <p:sp>
        <p:nvSpPr>
          <p:cNvPr id="3" name="s8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08</a:t>
            </a:r>
          </a:p>
        </p:txBody>
      </p:sp>
      <p:sp>
        <p:nvSpPr>
          <p:cNvPr id="4" name="s8_title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F6F1E7"/>
                </a:solidFill>
                <a:latin typeface="Inter"/>
              </a:rPr>
              <a:t>Launching at UCLA, then the UC system.</a:t>
            </a:r>
          </a:p>
        </p:txBody>
      </p:sp>
      <p:sp>
        <p:nvSpPr>
          <p:cNvPr id="5" name="s8_card1"/>
          <p:cNvSpPr/>
          <p:nvPr/>
        </p:nvSpPr>
        <p:spPr>
          <a:xfrm>
            <a:off x="731520" y="27432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8_card1_title"/>
          <p:cNvSpPr txBox="1"/>
          <p:nvPr/>
        </p:nvSpPr>
        <p:spPr>
          <a:xfrm>
            <a:off x="1005840" y="3017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Now</a:t>
            </a:r>
          </a:p>
        </p:txBody>
      </p:sp>
      <p:sp>
        <p:nvSpPr>
          <p:cNvPr id="7" name="s8_card1_body"/>
          <p:cNvSpPr txBox="1"/>
          <p:nvPr/>
        </p:nvSpPr>
        <p:spPr>
          <a:xfrm>
            <a:off x="1005840" y="356616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Waitlist live. Supplier signed in Uji, Kyoto.</a:t>
            </a:r>
          </a:p>
        </p:txBody>
      </p:sp>
      <p:sp>
        <p:nvSpPr>
          <p:cNvPr id="8" name="s8_card2"/>
          <p:cNvSpPr/>
          <p:nvPr/>
        </p:nvSpPr>
        <p:spPr>
          <a:xfrm>
            <a:off x="4389120" y="27432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8_card2_title"/>
          <p:cNvSpPr txBox="1"/>
          <p:nvPr/>
        </p:nvSpPr>
        <p:spPr>
          <a:xfrm>
            <a:off x="4663440" y="3017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Q1</a:t>
            </a:r>
          </a:p>
        </p:txBody>
      </p:sp>
      <p:sp>
        <p:nvSpPr>
          <p:cNvPr id="10" name="s8_card2_body"/>
          <p:cNvSpPr txBox="1"/>
          <p:nvPr/>
        </p:nvSpPr>
        <p:spPr>
          <a:xfrm>
            <a:off x="4663440" y="356616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UCLA pilot: 500 subscribers, dorm delivery.</a:t>
            </a:r>
          </a:p>
        </p:txBody>
      </p:sp>
      <p:sp>
        <p:nvSpPr>
          <p:cNvPr id="11" name="s8_card3"/>
          <p:cNvSpPr/>
          <p:nvPr/>
        </p:nvSpPr>
        <p:spPr>
          <a:xfrm>
            <a:off x="8046720" y="27432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22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8_card3_title"/>
          <p:cNvSpPr txBox="1"/>
          <p:nvPr/>
        </p:nvSpPr>
        <p:spPr>
          <a:xfrm>
            <a:off x="8321040" y="30175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6F1E7"/>
                </a:solidFill>
                <a:latin typeface="Inter"/>
              </a:rPr>
              <a:t>Q3</a:t>
            </a:r>
          </a:p>
        </p:txBody>
      </p:sp>
      <p:sp>
        <p:nvSpPr>
          <p:cNvPr id="13" name="s8_card3_body"/>
          <p:cNvSpPr txBox="1"/>
          <p:nvPr/>
        </p:nvSpPr>
        <p:spPr>
          <a:xfrm>
            <a:off x="8321040" y="356616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5AB"/>
                </a:solidFill>
                <a:latin typeface="Inter"/>
              </a:rPr>
              <a:t>All 9 UC campuses + campus-café partnerships.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9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TEAM</a:t>
            </a:r>
          </a:p>
        </p:txBody>
      </p:sp>
      <p:sp>
        <p:nvSpPr>
          <p:cNvPr id="3" name="s9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09</a:t>
            </a:r>
          </a:p>
        </p:txBody>
      </p:sp>
      <p:sp>
        <p:nvSpPr>
          <p:cNvPr id="4" name="s9_title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760"/>
              </a:spcAft>
            </a:pPr>
            <a:r>
              <a:rPr sz="4400" b="1">
                <a:solidFill>
                  <a:srgbClr val="F6F1E7"/>
                </a:solidFill>
                <a:latin typeface="Inter"/>
              </a:rPr>
              <a:t>One founder. A swarm of agents.</a:t>
            </a:r>
          </a:p>
        </p:txBody>
      </p:sp>
      <p:sp>
        <p:nvSpPr>
          <p:cNvPr id="5" name="s9_body"/>
          <p:cNvSpPr txBox="1"/>
          <p:nvPr/>
        </p:nvSpPr>
        <p:spPr>
          <a:xfrm>
            <a:off x="731520" y="23774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80"/>
              </a:spcAft>
            </a:pPr>
            <a:r>
              <a:rPr sz="2200" b="0">
                <a:solidFill>
                  <a:srgbClr val="A9B5AB"/>
                </a:solidFill>
                <a:latin typeface="Inter"/>
              </a:rPr>
              <a:t>Founder: CS @ UCLA, ex-barista, drinks too much matcha.</a:t>
            </a:r>
          </a:p>
          <a:p>
            <a:pPr algn="l">
              <a:spcAft>
                <a:spcPts val="880"/>
              </a:spcAft>
            </a:pPr>
            <a:r>
              <a:rPr sz="2200" b="0">
                <a:solidFill>
                  <a:srgbClr val="A9B5AB"/>
                </a:solidFill>
                <a:latin typeface="Inter"/>
              </a:rPr>
              <a:t>Ops, design, web, deck &amp; launch: Hive (yes, the agents built this deck).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10_kicker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300" b="1">
                <a:solidFill>
                  <a:srgbClr val="8DBF5A"/>
                </a:solidFill>
                <a:latin typeface="Inter"/>
              </a:rPr>
              <a:t>THE ASK</a:t>
            </a:r>
          </a:p>
        </p:txBody>
      </p:sp>
      <p:sp>
        <p:nvSpPr>
          <p:cNvPr id="3" name="s10_page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40"/>
              </a:spcAft>
            </a:pPr>
            <a:r>
              <a:rPr sz="1100" b="0">
                <a:solidFill>
                  <a:srgbClr val="A9B5AB"/>
                </a:solidFill>
                <a:latin typeface="Inter"/>
              </a:rPr>
              <a:t>10</a:t>
            </a:r>
          </a:p>
        </p:txBody>
      </p:sp>
      <p:sp>
        <p:nvSpPr>
          <p:cNvPr id="4" name="s10_title"/>
          <p:cNvSpPr txBox="1"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560"/>
              </a:spcAft>
            </a:pPr>
            <a:r>
              <a:rPr sz="6400" b="1">
                <a:solidFill>
                  <a:srgbClr val="F6F1E7"/>
                </a:solidFill>
                <a:latin typeface="Inter"/>
              </a:rPr>
              <a:t>Join the waitlist.</a:t>
            </a:r>
          </a:p>
        </p:txBody>
      </p:sp>
      <p:sp>
        <p:nvSpPr>
          <p:cNvPr id="5" name="s10_body"/>
          <p:cNvSpPr txBox="1"/>
          <p:nvPr/>
        </p:nvSpPr>
        <p:spPr>
          <a:xfrm>
            <a:off x="731520" y="292608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0">
                <a:solidFill>
                  <a:srgbClr val="FF6B6B"/>
                </a:solidFill>
                <a:latin typeface="Inter"/>
              </a:rPr>
              <a:t>TODO: live URL</a:t>
            </a:r>
          </a:p>
        </p:txBody>
      </p:sp>
      <p:sp>
        <p:nvSpPr>
          <p:cNvPr id="6" name="s10_img_slot"/>
          <p:cNvSpPr/>
          <p:nvPr/>
        </p:nvSpPr>
        <p:spPr>
          <a:xfrm>
            <a:off x="8503920" y="1463040"/>
            <a:ext cx="2926080" cy="2926080"/>
          </a:xfrm>
          <a:prstGeom prst="roundRect">
            <a:avLst/>
          </a:prstGeom>
          <a:noFill/>
          <a:ln w="19050">
            <a:solidFill>
              <a:srgbClr val="A9B5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9B5AB"/>
                </a:solidFill>
                <a:latin typeface="Inter"/>
              </a:rPr>
              <a:t>[ QR code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